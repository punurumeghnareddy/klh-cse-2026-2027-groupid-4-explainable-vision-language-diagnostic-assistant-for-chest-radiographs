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7" r:id="rId10"/>
    <p:sldId id="261" r:id="rId11"/>
    <p:sldId id="262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Threshold (0.5)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DenseNet121</c:v>
                </c:pt>
                <c:pt idx="1">
                  <c:v>ViT-B/32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0.254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13-4302-87F4-76E0D4EFF1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Threshold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DenseNet121</c:v>
                </c:pt>
                <c:pt idx="1">
                  <c:v>ViT-B/32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0.30399999999999999</c:v>
                </c:pt>
                <c:pt idx="1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13-4302-87F4-76E0D4EFF1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Macro 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(0.5)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Cardiomegaly</c:v>
                </c:pt>
                <c:pt idx="1">
                  <c:v>Mass</c:v>
                </c:pt>
                <c:pt idx="2">
                  <c:v>Pneumonia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6.2E-2</c:v>
                </c:pt>
                <c:pt idx="1">
                  <c:v>7.9000000000000001E-2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D-412A-B351-C76BF221D1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Threshold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Cardiomegaly</c:v>
                </c:pt>
                <c:pt idx="1">
                  <c:v>Mass</c:v>
                </c:pt>
                <c:pt idx="2">
                  <c:v>Pneumonia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0.45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1D-412A-B351-C76BF221D1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Recall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7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Vision-Language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Assistant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Chest Radiographs with Offline Rural Deployment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Specialization Capstone Project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CD3AE-C776-484C-6269-60B1A503C373}"/>
              </a:ext>
            </a:extLst>
          </p:cNvPr>
          <p:cNvSpPr txBox="1"/>
          <p:nvPr/>
        </p:nvSpPr>
        <p:spPr>
          <a:xfrm>
            <a:off x="6419850" y="3977640"/>
            <a:ext cx="4362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P. Kavya Sai – 2420030322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D. Poojitha – 2420030697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P. Meghana – 2420030401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S. Anajana – 2420030499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Cluster – 3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Section-7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Faculty:   Dr. K Swanthana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0490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75" y="504825"/>
            <a:ext cx="21526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75" y="1104900"/>
            <a:ext cx="5153025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Inter"/>
              </a:rPr>
              <a:t>Acute Radiologist Shortage: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Primary health centers in rural regions lack specialist radiologists to read X-rays and detect conditions like pneumonia or tuberculosis.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067458"/>
            <a:ext cx="515302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Inter"/>
              </a:rPr>
              <a:t>Diagnostic Delays &amp; Travel Burden: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Patients travel vast distances to urban hospitals, delaying time-critical care and incurring heavy financial expense.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665821"/>
            <a:ext cx="515302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Inter"/>
              </a:rPr>
              <a:t>Black-Box AI Mistrust:</a:t>
            </a:r>
            <a:r>
              <a:rPr sz="2400" b="0" i="0" u="none" dirty="0">
                <a:solidFill>
                  <a:srgbClr val="334155"/>
                </a:solidFill>
                <a:latin typeface="Inter"/>
              </a:rPr>
              <a:t> Traditional AI systems provide class outputs without explanations, making local nurses reluctant to rely on machine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947987"/>
            <a:ext cx="5153025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14425"/>
            <a:ext cx="5400675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19062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411" y="317892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4748368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62" y="3561504"/>
            <a:ext cx="9336560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43" y="1156864"/>
            <a:ext cx="4383122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64" y="1172190"/>
            <a:ext cx="3587799" cy="2162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5" y="504825"/>
            <a:ext cx="1809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653" y="3669844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1426" y="3776690"/>
            <a:ext cx="523276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000" b="1" dirty="0">
                <a:solidFill>
                  <a:srgbClr val="0369A1"/>
                </a:solidFill>
                <a:latin typeface="Plus Jakarta Sans"/>
              </a:rPr>
              <a:t>3</a:t>
            </a:r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. Automated Triage &amp; Priority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7337" y="4387981"/>
            <a:ext cx="960120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Compute case urgency flags (e.g., "Please refer to specialist within 24 hours") so rural health workers can prioritize critical emergency cases immediately.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897" y="1315296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17773" y="1361150"/>
            <a:ext cx="294843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1. Multimodal</a:t>
            </a:r>
            <a:r>
              <a:rPr lang="en-US" sz="20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7773" y="1970683"/>
            <a:ext cx="3187749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Develop a vision-language assistant to generate plain-language diagnostic descriptions (e.g., "early signs of pneumonia") alongside class confidence scores.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1108" y="136929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47985" y="1430228"/>
            <a:ext cx="262624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369A1"/>
                </a:solidFill>
                <a:latin typeface="Plus Jakarta Sans"/>
              </a:rPr>
              <a:t>2. Visual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8308" y="2012611"/>
            <a:ext cx="3318948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Incorporate Grad-CAM heatmaps and attention overlays that circle the exact anatomical regions of concern, giving healthcare workers verifiable proof.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4478" y="3776690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3535" y="1448646"/>
            <a:ext cx="1619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4933" y="1493119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ExtraBold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5419725" cy="2890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04900"/>
            <a:ext cx="5419725" cy="2890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087" y="504825"/>
            <a:ext cx="2205037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" y="1323975"/>
            <a:ext cx="5230653" cy="2381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Literature Survey (Existing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1323975"/>
            <a:ext cx="5230653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Identified Research Gaps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1362075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Standard CNN Classifiers: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ResNet &amp; DenseNet models achieve strong classification accuracy on ChestX-ray14 but lack report generation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Large Vision-Language Models: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Heavy Transformer architectures generate clinical reports but require GPU servers and stable cloud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133725"/>
            <a:ext cx="4714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Standalone Saliency Maps: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Heatmap tools highlight regions but fail to explain clinical severity or provide actionable triage advice.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362075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4175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Inter"/>
              </a:rPr>
              <a:t>Absence of Explainable Multimodal Grounding: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Existing systems rarely combine textual diagnostics with exact visual heatmap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High Computational Overhead: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Complete absence of quantized, offline-capable vision-language models for edge smartphone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175" y="3133725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Lack of Actionable Triage Systems: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Standard models output probabilities without translating them into emergency referral timelines for health workers.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68592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424112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16230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685925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2424112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162300"/>
            <a:ext cx="1143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Literature Survey &amp; Research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9A01053-60C8-0670-255B-3312C5E0F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90693"/>
              </p:ext>
            </p:extLst>
          </p:nvPr>
        </p:nvGraphicFramePr>
        <p:xfrm>
          <a:off x="2605391" y="4077698"/>
          <a:ext cx="5400673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Resource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Key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ChestX-ray14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NIH CC Box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112,120 chest X-rays with 14 disease labels.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OpenI (OpenAccess)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NLM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OpenI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7,470 X-rays paired with clinical radiology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42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ROCO Medical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GitHub / ROCO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Multimodal radiology dataset for text-image alignment.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Class Selection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14 NIH conditions retained, chosen by measured per-class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Frozen-Backbone Transfer Learning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ViT-B/32 &amp; DenseNet121; only final blocks fine-tuned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58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Training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+ best-checkpoint-by-F1 to counter overfitting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Threshold Tuning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778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PR-curve optimization — no retraining required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6177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Reporting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5778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grounding in real OpenI radiology report text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2062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5820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4582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5074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Cross-Checks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55778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CLIP + BLIP v1 as secondary, separate signals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(PNG / JPG)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9504" y="23774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26664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11-condition model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55464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11496" y="23774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248656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+ Report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 +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33488" y="23774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70648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70648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70648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31089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55480" y="23774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69264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+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branches — vision explainability and text reporting — recombine at the presentation layer, alongside supplementary CLIP and BLIP v1 cross-checks.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Tools and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1620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5316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0815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 &amp;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3692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9369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815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&amp; BLIP v1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55764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25576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0815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PR-curves, metrics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17836" y="1874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1178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30815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overlay &amp; contours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307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31620" y="39136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53162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46451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120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report handling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10712" y="37307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93692" y="39136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393692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46451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5120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72784" y="37307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55764" y="39136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255764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46451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5120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reports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34856" y="373075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117836" y="39136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10117836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244584" y="46451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kagglehub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44584" y="5120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CODE 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dataset.py, count_labels.py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model.py, train.py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→ gradcam.py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→ evaluate.py, tune_thresholds.py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→ report_index.py, report_generator.py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63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→ clip_verify.py, blip_caption.py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→ triage.py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669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→ inference.py, report_pdf.py, app/app.py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 &amp; Purpose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55080" y="2103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model.py / train.py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 transfer learning + imbalance-aware training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798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gradcam.py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090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explainability, heatmap &amp; contour marking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4930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report_generator.py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785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Multi-condition, retrieval-grounded report text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187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triage.py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urgency scoring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8828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clip_verify.py / blip_caption.py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175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CLIP &amp; BLIP v1 cross-checks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5577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/ report_pdf.py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870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+ downloadable PDF report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ABC2F-F526-F11F-59DD-1FE8B880D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1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Classified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160520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 (tuned)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0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7,426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Reports Indexed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Comparison — Macro F1 Score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48640" y="361188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6309360" y="36118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58368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 scored slightly lower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4206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lack the built-in locality and translation-invariance biases CNNs have, so they typically need more training data to match CNN performance. With only ~4,800 training images, this gap is an expected, well-documented outcome — not an implementation defect.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DEEPER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Improvement from Per-Class Threshold Tuning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60350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73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accepted deliberately: for a triage tool, a missed finding is worse than a false alarm.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0" y="1828800"/>
            <a:ext cx="4754880" cy="2880360"/>
          </a:xfrm>
          <a:prstGeom prst="roundRect">
            <a:avLst>
              <a:gd name="adj" fmla="val 2540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0" y="1975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Validation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395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  →  0.277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0358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std. deviation: gradient-based Grad-CAM (collapsed) vs. attention-based visualization (real signal)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37673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adapted from CNNs, collapsed on this ViT due to token homogenization in the mostly-frozen backbone. Attention-based visualization — the standard ViT approach — restored genuine spatial signal.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validation: on a held-out case (ground truth: Cardiomegaly, Edema, Effusion), the system correctly flagged Cardiomegaly at 99.9% confidence and Effusion after the multi-condition reporting upgrade.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Vision-Language Diagnostic Assistant  —  Project Review-2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2FEE5-49EB-26B3-1AD4-9DB62385E3FF}"/>
              </a:ext>
            </a:extLst>
          </p:cNvPr>
          <p:cNvSpPr txBox="1"/>
          <p:nvPr/>
        </p:nvSpPr>
        <p:spPr>
          <a:xfrm>
            <a:off x="1257300" y="4506686"/>
            <a:ext cx="14406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75569"/>
                </a:solidFill>
                <a:latin typeface="Inter"/>
              </a:rPr>
              <a:t>Our project aims to bridge the rural diagnostic gap by delivering an honest, explainable, and fully offline AI assistant — ensuring patients receive timely and safe care regardless of geographic limitations.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1013</Words>
  <Application>Microsoft Office PowerPoint</Application>
  <PresentationFormat>Widescreen</PresentationFormat>
  <Paragraphs>179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Inter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Dama Poojitha .</cp:lastModifiedBy>
  <cp:revision>3</cp:revision>
  <dcterms:created xsi:type="dcterms:W3CDTF">2026-09-14T09:25:12Z</dcterms:created>
  <dcterms:modified xsi:type="dcterms:W3CDTF">2026-09-16T03:38:09Z</dcterms:modified>
</cp:coreProperties>
</file>